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Sondri builds done-for-you AI for the industries that run the real economy. Agents and FDEs deployed where the work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has skipped the mid-market. 70% have no strategy, bespoke consulting starts above $250K, and traditional builds take nine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build a custom AI working model for each customer, done-for-you, end to end. No platform to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delivery engine: a senior core team takes you from zero to one; a vetted contractor network takes one to many.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five-rung engagement ladder. Start free; commit to each rung only once the last has paid for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working model, live in eight weeks: discovery, build, deploy and train, then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go deep where data is the business — PE, financial services, fintech, healthtech, CPG and retail, real estate.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Three-part, outcome-aligned pricing with year-one unit economics that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build the AI working model for the industries that run the real economy.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566168" cy="448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375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SONDRI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700139" y="1083733"/>
            <a:ext cx="1033926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870443" y="1022350"/>
            <a:ext cx="2502012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566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—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43000" y="3106208"/>
            <a:ext cx="419100" cy="1905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976033"/>
            <a:ext cx="32488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WORKING MODELS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79283"/>
            <a:ext cx="15003362" cy="2245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850" b="1" spc="-75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agents, FDE’s deployed where the work </a:t>
            </a:r>
            <a:pPr algn="l" indent="0" marL="0">
              <a:lnSpc>
                <a:spcPct val="98000"/>
              </a:lnSpc>
              <a:buNone/>
            </a:pPr>
            <a:r>
              <a:rPr lang="en-US" sz="8850" b="1" i="1" spc="-75" kern="0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happens.</a:t>
            </a:r>
            <a:endParaRPr lang="en-US" sz="8850" dirty="0"/>
          </a:p>
        </p:txBody>
      </p:sp>
      <p:sp>
        <p:nvSpPr>
          <p:cNvPr id="8" name="Text 6"/>
          <p:cNvSpPr/>
          <p:nvPr/>
        </p:nvSpPr>
        <p:spPr>
          <a:xfrm>
            <a:off x="1143000" y="6167438"/>
            <a:ext cx="9366473" cy="1338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9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Done-for-you AI for the industries that run the real economy — retail, construction, logistics, trades. From zero to one. Then one to many.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9118600"/>
            <a:ext cx="9343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6C7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53576" y="9118600"/>
            <a:ext cx="25757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348" y="9118600"/>
            <a:ext cx="188798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6C7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56100" y="9118600"/>
            <a:ext cx="25757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89872" y="9118600"/>
            <a:ext cx="141599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6C7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9536" y="9118600"/>
            <a:ext cx="25757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63308" y="9118600"/>
            <a:ext cx="9343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6C7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91617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PROBLEM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718667"/>
            <a:ext cx="9663180" cy="2296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skipped the industries that need it most.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4262834"/>
            <a:ext cx="10663400" cy="168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chains, construction firms, logistics operators and trades run on spreadsheets, paper and tribal knowledge. They can’t hire data scientists or afford six-figure consultancies — so they get nothing, while tech-native rivals pull ahead.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6518143"/>
            <a:ext cx="16002000" cy="2577174"/>
          </a:xfrm>
          <a:prstGeom prst="rect">
            <a:avLst/>
          </a:prstGeom>
          <a:solidFill>
            <a:srgbClr val="263434"/>
          </a:solidFill>
          <a:ln w="8467">
            <a:solidFill>
              <a:srgbClr val="263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1467" y="6526609"/>
            <a:ext cx="5315612" cy="2560241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7" name="Text 5"/>
          <p:cNvSpPr/>
          <p:nvPr/>
        </p:nvSpPr>
        <p:spPr>
          <a:xfrm>
            <a:off x="1532467" y="6945709"/>
            <a:ext cx="500897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532467" y="7955359"/>
            <a:ext cx="4690220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mid-market businesses in non-tech sectors have no AI strategy.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86128" y="6526609"/>
            <a:ext cx="5315678" cy="2560241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867128" y="6945709"/>
            <a:ext cx="500904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$250K+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6867128" y="7955359"/>
            <a:ext cx="4690288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 cost of a bespoke AI consulting engagement today.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820856" y="6526609"/>
            <a:ext cx="5315612" cy="2560241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2201856" y="6945709"/>
            <a:ext cx="500897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mo.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12201856" y="7955359"/>
            <a:ext cx="4690220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time-to-value for a traditional AI implementation.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58199"/>
            <a:ext cx="32488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WHAT WE DO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685249"/>
            <a:ext cx="7989766" cy="1980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 custom AI </a:t>
            </a:r>
            <a:pPr algn="l" indent="0" marL="0">
              <a:lnSpc>
                <a:spcPct val="106000"/>
              </a:lnSpc>
              <a:buNone/>
            </a:pPr>
            <a:r>
              <a:rPr lang="en-US" sz="4800" b="1" i="1" spc="-37" kern="0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model </a:t>
            </a:r>
            <a:pPr algn="l" indent="0" marL="0">
              <a:lnSpc>
                <a:spcPct val="106000"/>
              </a:lnSpc>
              <a:buNone/>
            </a:pPr>
            <a:r>
              <a:rPr lang="en-US" sz="480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customer.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5894520"/>
            <a:ext cx="6340401" cy="1272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Done-for-you, end-to-end. No platform to learn, no login to adopt. Agents that fit into how you work today.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757304" y="2773627"/>
            <a:ext cx="738763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6" name="Text 4"/>
          <p:cNvSpPr/>
          <p:nvPr/>
        </p:nvSpPr>
        <p:spPr>
          <a:xfrm>
            <a:off x="9757304" y="3029744"/>
            <a:ext cx="457200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385954" y="3029744"/>
            <a:ext cx="6961749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B6C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diagnose your workflow and pick three high-ROI use cases.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9757304" y="3956447"/>
            <a:ext cx="738763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9" name="Text 7"/>
          <p:cNvSpPr/>
          <p:nvPr/>
        </p:nvSpPr>
        <p:spPr>
          <a:xfrm>
            <a:off x="9757304" y="4212564"/>
            <a:ext cx="457200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85954" y="4212564"/>
            <a:ext cx="6961749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B6C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design and build the agents, MCPs, tools and integrations.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9757304" y="5139267"/>
            <a:ext cx="738763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12" name="Text 10"/>
          <p:cNvSpPr/>
          <p:nvPr/>
        </p:nvSpPr>
        <p:spPr>
          <a:xfrm>
            <a:off x="9757304" y="5395383"/>
            <a:ext cx="457200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85954" y="5395383"/>
            <a:ext cx="6961749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B6C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deploy onto your existing stack — no platform lock-in.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757304" y="7504907"/>
            <a:ext cx="738763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15" name="Shape 13"/>
          <p:cNvSpPr/>
          <p:nvPr/>
        </p:nvSpPr>
        <p:spPr>
          <a:xfrm>
            <a:off x="9757304" y="6322087"/>
            <a:ext cx="738763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16" name="Text 14"/>
          <p:cNvSpPr/>
          <p:nvPr/>
        </p:nvSpPr>
        <p:spPr>
          <a:xfrm>
            <a:off x="9757304" y="6578203"/>
            <a:ext cx="457200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85954" y="6578203"/>
            <a:ext cx="6961749" cy="717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B6C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train your team and stay on for governance and tuning.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8413" y="2324232"/>
            <a:ext cx="36311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DELIVERY ENGINE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42900" y="2794132"/>
            <a:ext cx="176022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150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1 → </a:t>
            </a:r>
            <a:pPr algn="ctr" indent="0" marL="0">
              <a:lnSpc>
                <a:spcPct val="100000"/>
              </a:lnSpc>
              <a:buNone/>
            </a:pPr>
            <a:r>
              <a:rPr lang="en-US" sz="7200" b="1" i="1" spc="150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4318132"/>
            <a:ext cx="5143500" cy="3644569"/>
          </a:xfrm>
          <a:prstGeom prst="rect">
            <a:avLst/>
          </a:prstGeom>
          <a:solidFill>
            <a:srgbClr val="0C1A1A"/>
          </a:solidFill>
          <a:ln w="8467">
            <a:solidFill>
              <a:srgbClr val="2634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2467" y="4764749"/>
            <a:ext cx="515805" cy="910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962459" y="5247349"/>
            <a:ext cx="101077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6C7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WEEKS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32467" y="5884466"/>
            <a:ext cx="4801023" cy="448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532467" y="6447499"/>
            <a:ext cx="4495504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audit. We map every process and pick three use cases with clear ROI.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72250" y="4318132"/>
            <a:ext cx="5143500" cy="3644569"/>
          </a:xfrm>
          <a:prstGeom prst="rect">
            <a:avLst/>
          </a:prstGeom>
          <a:solidFill>
            <a:srgbClr val="0C1A1A"/>
          </a:solidFill>
          <a:ln w="8467">
            <a:solidFill>
              <a:srgbClr val="2634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1717" y="4764749"/>
            <a:ext cx="362876" cy="910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0391709" y="5247349"/>
            <a:ext cx="101077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6C7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WEEKS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61717" y="5884466"/>
            <a:ext cx="4801023" cy="448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961717" y="6447499"/>
            <a:ext cx="4495504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agents go live. Our core team blueprints; vetted contractors deliver.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001500" y="4318132"/>
            <a:ext cx="5143500" cy="3644569"/>
          </a:xfrm>
          <a:prstGeom prst="rect">
            <a:avLst/>
          </a:prstGeom>
          <a:solidFill>
            <a:srgbClr val="0F1F1C"/>
          </a:solidFill>
          <a:ln w="8467">
            <a:solidFill>
              <a:srgbClr val="FFCC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90967" y="4764749"/>
            <a:ext cx="496623" cy="910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5820959" y="5247349"/>
            <a:ext cx="101077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6C7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ONGOING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90967" y="5884466"/>
            <a:ext cx="4801023" cy="448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390967" y="6447499"/>
            <a:ext cx="4495504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B6C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use cases land monthly. We stay on for tuning, governance and the next wave.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009907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ENGAGEMENT LADDER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2498857"/>
            <a:ext cx="11061757" cy="1187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free. Climb only as far as the value carries you.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5705343"/>
            <a:ext cx="3048000" cy="1619250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7316126"/>
            <a:ext cx="304800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705343"/>
            <a:ext cx="3048000" cy="254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705343"/>
            <a:ext cx="9525" cy="1619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8" name="Shape 6"/>
          <p:cNvSpPr/>
          <p:nvPr/>
        </p:nvSpPr>
        <p:spPr>
          <a:xfrm>
            <a:off x="4182533" y="5705343"/>
            <a:ext cx="9525" cy="1619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9" name="Shape 7"/>
          <p:cNvSpPr/>
          <p:nvPr/>
        </p:nvSpPr>
        <p:spPr>
          <a:xfrm>
            <a:off x="1361017" y="5959343"/>
            <a:ext cx="459118" cy="3048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10" name="Text 8"/>
          <p:cNvSpPr/>
          <p:nvPr/>
        </p:nvSpPr>
        <p:spPr>
          <a:xfrm>
            <a:off x="1475317" y="5978393"/>
            <a:ext cx="2764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93637" y="6018609"/>
            <a:ext cx="455546" cy="22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361017" y="6416543"/>
            <a:ext cx="2873163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1017" y="6892793"/>
            <a:ext cx="2873163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C6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RUNG 01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1500" y="5324343"/>
            <a:ext cx="3048000" cy="2000250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1500" y="7316126"/>
            <a:ext cx="304800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1500" y="5324343"/>
            <a:ext cx="3048000" cy="254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1500" y="5324343"/>
            <a:ext cx="9525" cy="2000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18" name="Shape 16"/>
          <p:cNvSpPr/>
          <p:nvPr/>
        </p:nvSpPr>
        <p:spPr>
          <a:xfrm>
            <a:off x="7421033" y="5324343"/>
            <a:ext cx="9525" cy="2000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599517" y="5578343"/>
            <a:ext cx="488884" cy="3048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20" name="Text 18"/>
          <p:cNvSpPr/>
          <p:nvPr/>
        </p:nvSpPr>
        <p:spPr>
          <a:xfrm>
            <a:off x="4713817" y="5597393"/>
            <a:ext cx="309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737284" y="5637609"/>
            <a:ext cx="550399" cy="22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599517" y="6035543"/>
            <a:ext cx="2873163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&amp; Measure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99517" y="6892793"/>
            <a:ext cx="2873163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C6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RUNG 02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20000" y="4943343"/>
            <a:ext cx="3048000" cy="2381250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0" y="7316126"/>
            <a:ext cx="304800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0" y="4943343"/>
            <a:ext cx="3048000" cy="254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0" y="4943343"/>
            <a:ext cx="9525" cy="2381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59533" y="4943343"/>
            <a:ext cx="9525" cy="2381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29" name="Shape 27"/>
          <p:cNvSpPr/>
          <p:nvPr/>
        </p:nvSpPr>
        <p:spPr>
          <a:xfrm>
            <a:off x="7838017" y="5197343"/>
            <a:ext cx="491860" cy="3048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30" name="Text 28"/>
          <p:cNvSpPr/>
          <p:nvPr/>
        </p:nvSpPr>
        <p:spPr>
          <a:xfrm>
            <a:off x="7952317" y="5216393"/>
            <a:ext cx="3124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01651" y="5256609"/>
            <a:ext cx="1024533" cy="22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838017" y="5654543"/>
            <a:ext cx="2873163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Scale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38017" y="6892793"/>
            <a:ext cx="2873163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C6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RUNG 03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858500" y="4562343"/>
            <a:ext cx="3048000" cy="2762250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858500" y="7316126"/>
            <a:ext cx="304800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858500" y="4562343"/>
            <a:ext cx="3048000" cy="254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58500" y="4562343"/>
            <a:ext cx="9525" cy="2762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38" name="Shape 36"/>
          <p:cNvSpPr/>
          <p:nvPr/>
        </p:nvSpPr>
        <p:spPr>
          <a:xfrm>
            <a:off x="13898033" y="4562343"/>
            <a:ext cx="9525" cy="2762250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39" name="Shape 37"/>
          <p:cNvSpPr/>
          <p:nvPr/>
        </p:nvSpPr>
        <p:spPr>
          <a:xfrm>
            <a:off x="11076517" y="4816343"/>
            <a:ext cx="497681" cy="3048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40" name="Text 38"/>
          <p:cNvSpPr/>
          <p:nvPr/>
        </p:nvSpPr>
        <p:spPr>
          <a:xfrm>
            <a:off x="11190817" y="4835393"/>
            <a:ext cx="3188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929791" y="4875609"/>
            <a:ext cx="834893" cy="22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RETAINED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1076517" y="5273543"/>
            <a:ext cx="2873163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076517" y="6892793"/>
            <a:ext cx="2873163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C6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RUNG 04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097000" y="4181343"/>
            <a:ext cx="3048000" cy="3143250"/>
          </a:xfrm>
          <a:prstGeom prst="rect">
            <a:avLst/>
          </a:prstGeom>
          <a:solidFill>
            <a:srgbClr val="0F1F1C"/>
          </a:solidFill>
          <a:ln/>
        </p:spPr>
      </p:sp>
      <p:sp>
        <p:nvSpPr>
          <p:cNvPr id="45" name="Shape 43"/>
          <p:cNvSpPr/>
          <p:nvPr/>
        </p:nvSpPr>
        <p:spPr>
          <a:xfrm>
            <a:off x="14097000" y="7316126"/>
            <a:ext cx="3048000" cy="9525"/>
          </a:xfrm>
          <a:prstGeom prst="rect">
            <a:avLst/>
          </a:prstGeom>
          <a:solidFill>
            <a:srgbClr val="F7C062"/>
          </a:solidFill>
          <a:ln/>
        </p:spPr>
      </p:sp>
      <p:sp>
        <p:nvSpPr>
          <p:cNvPr id="46" name="Shape 44"/>
          <p:cNvSpPr/>
          <p:nvPr/>
        </p:nvSpPr>
        <p:spPr>
          <a:xfrm>
            <a:off x="14097000" y="4181343"/>
            <a:ext cx="3048000" cy="254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47" name="Shape 45"/>
          <p:cNvSpPr/>
          <p:nvPr/>
        </p:nvSpPr>
        <p:spPr>
          <a:xfrm>
            <a:off x="14097000" y="4181343"/>
            <a:ext cx="9525" cy="3143250"/>
          </a:xfrm>
          <a:prstGeom prst="rect">
            <a:avLst/>
          </a:prstGeom>
          <a:solidFill>
            <a:srgbClr val="F7C062"/>
          </a:solidFill>
          <a:ln/>
        </p:spPr>
      </p:sp>
      <p:sp>
        <p:nvSpPr>
          <p:cNvPr id="48" name="Shape 46"/>
          <p:cNvSpPr/>
          <p:nvPr/>
        </p:nvSpPr>
        <p:spPr>
          <a:xfrm>
            <a:off x="17136533" y="4181343"/>
            <a:ext cx="9525" cy="3143250"/>
          </a:xfrm>
          <a:prstGeom prst="rect">
            <a:avLst/>
          </a:prstGeom>
          <a:solidFill>
            <a:srgbClr val="F7C062"/>
          </a:solidFill>
          <a:ln/>
        </p:spPr>
      </p:sp>
      <p:sp>
        <p:nvSpPr>
          <p:cNvPr id="49" name="Shape 47"/>
          <p:cNvSpPr/>
          <p:nvPr/>
        </p:nvSpPr>
        <p:spPr>
          <a:xfrm>
            <a:off x="14315017" y="4435343"/>
            <a:ext cx="490141" cy="3048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50" name="Text 48"/>
          <p:cNvSpPr/>
          <p:nvPr/>
        </p:nvSpPr>
        <p:spPr>
          <a:xfrm>
            <a:off x="14429317" y="4454393"/>
            <a:ext cx="3105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6263143" y="4494609"/>
            <a:ext cx="740040" cy="22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4315017" y="4892543"/>
            <a:ext cx="2873163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4315017" y="6892793"/>
            <a:ext cx="2873163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 →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143000" y="7743693"/>
            <a:ext cx="45784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</a:t>
            </a:r>
            <a:pPr algn="l" indent="0" marL="0">
              <a:buNone/>
            </a:pPr>
            <a:r>
              <a:rPr lang="en-US" sz="1425" spc="75" kern="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 agents to your pain points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5969066" y="7743693"/>
            <a:ext cx="421051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</a:t>
            </a:r>
            <a:pPr algn="l" indent="0" marL="0">
              <a:buNone/>
            </a:pPr>
            <a:r>
              <a:rPr lang="en-US" sz="1425" spc="75" kern="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Compounding process improvement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10437945" y="7743693"/>
            <a:ext cx="69082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</a:t>
            </a:r>
            <a:pPr algn="l" indent="0" marL="0">
              <a:buNone/>
            </a:pPr>
            <a:r>
              <a:rPr lang="en-US" sz="1425" spc="75" kern="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Navigating the galaxies unheard of, for your business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709598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217598"/>
            <a:ext cx="17602200" cy="698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10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AI model, deployed in </a:t>
            </a:r>
            <a:pPr algn="l" indent="0" marL="0">
              <a:lnSpc>
                <a:spcPct val="102000"/>
              </a:lnSpc>
              <a:buNone/>
            </a:pPr>
            <a:r>
              <a:rPr lang="en-US" sz="5100" b="1" i="1" spc="-37" kern="0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weeks.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4430646"/>
            <a:ext cx="16002000" cy="3146690"/>
          </a:xfrm>
          <a:prstGeom prst="rect">
            <a:avLst/>
          </a:prstGeom>
          <a:solidFill>
            <a:srgbClr val="263434"/>
          </a:solidFill>
          <a:ln w="8467">
            <a:solidFill>
              <a:srgbClr val="263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1467" y="4439113"/>
            <a:ext cx="3981979" cy="3129756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6" name="Text 4"/>
          <p:cNvSpPr/>
          <p:nvPr/>
        </p:nvSpPr>
        <p:spPr>
          <a:xfrm>
            <a:off x="1456267" y="4820113"/>
            <a:ext cx="1172832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2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56267" y="5215930"/>
            <a:ext cx="370961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56267" y="5867863"/>
            <a:ext cx="3473551" cy="102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map every workflow, then pick three use cases with clear, measurable ROI.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5152496" y="4439113"/>
            <a:ext cx="3981979" cy="3129756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0" name="Text 8"/>
          <p:cNvSpPr/>
          <p:nvPr/>
        </p:nvSpPr>
        <p:spPr>
          <a:xfrm>
            <a:off x="5457296" y="4820113"/>
            <a:ext cx="1172832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2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3–6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57296" y="5215930"/>
            <a:ext cx="370961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457296" y="5867863"/>
            <a:ext cx="3473551" cy="13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team designs the agents; vetted contractors deliver, reviewed at every gate.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153525" y="4439113"/>
            <a:ext cx="3981979" cy="3129756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9458325" y="4820113"/>
            <a:ext cx="1172832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2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7–8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58325" y="5215930"/>
            <a:ext cx="370961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Train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458325" y="5867863"/>
            <a:ext cx="3473551" cy="13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go live in your environment. Your people learn to operate and refine them.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3154554" y="4439113"/>
            <a:ext cx="3981979" cy="3129756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13459354" y="4820113"/>
            <a:ext cx="1050991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2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3+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59354" y="5215930"/>
            <a:ext cx="370961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3459354" y="5867863"/>
            <a:ext cx="3473551" cy="13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use cases land monthly. We stay on for tuning, governance and the next wave.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36308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144308"/>
            <a:ext cx="9764899" cy="1261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expertise where data 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i="1" spc="-37" kern="0" dirty="0">
                <a:solidFill>
                  <a:srgbClr val="FFC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4863042"/>
            <a:ext cx="16002000" cy="2787650"/>
          </a:xfrm>
          <a:prstGeom prst="rect">
            <a:avLst/>
          </a:prstGeom>
          <a:solidFill>
            <a:srgbClr val="263434"/>
          </a:solidFill>
          <a:ln w="8467">
            <a:solidFill>
              <a:srgbClr val="263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1467" y="4871508"/>
            <a:ext cx="5315612" cy="1375833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6" name="Text 4"/>
          <p:cNvSpPr/>
          <p:nvPr/>
        </p:nvSpPr>
        <p:spPr>
          <a:xfrm>
            <a:off x="1475317" y="5214408"/>
            <a:ext cx="5134703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Equity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75317" y="5692775"/>
            <a:ext cx="513470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PORTFOLIO-WIDE VALUE CREATION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486128" y="4871508"/>
            <a:ext cx="5315678" cy="1375833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9" name="Text 7"/>
          <p:cNvSpPr/>
          <p:nvPr/>
        </p:nvSpPr>
        <p:spPr>
          <a:xfrm>
            <a:off x="6809978" y="5214408"/>
            <a:ext cx="51347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809978" y="5692775"/>
            <a:ext cx="5134775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&amp; DECISIONING AT SCALE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1820856" y="4871508"/>
            <a:ext cx="5315612" cy="1375833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12144706" y="5214408"/>
            <a:ext cx="5134703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&amp; Payments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144706" y="5692775"/>
            <a:ext cx="513470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AI FOR MONEY MOVEMENT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151467" y="6266392"/>
            <a:ext cx="5315612" cy="1375833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475317" y="6609292"/>
            <a:ext cx="5134703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Healthtech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75317" y="7087659"/>
            <a:ext cx="513470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CLAIMS, RCM &amp; CLINICAL DATA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486128" y="6266392"/>
            <a:ext cx="5315678" cy="1375833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809978" y="6609292"/>
            <a:ext cx="51347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&amp; Retail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809978" y="7087659"/>
            <a:ext cx="5134775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DEMAND, PRICING &amp; SUPPLY CHAIN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1820856" y="6266392"/>
            <a:ext cx="5315612" cy="1375833"/>
          </a:xfrm>
          <a:prstGeom prst="rect">
            <a:avLst/>
          </a:prstGeom>
          <a:solidFill>
            <a:srgbClr val="0C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2144706" y="6609292"/>
            <a:ext cx="5134703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144706" y="7087659"/>
            <a:ext cx="513470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 &amp; MARKET INTELLIGENCE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892432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2400432"/>
            <a:ext cx="17602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37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Three-part, outcome-aligned.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505332"/>
            <a:ext cx="5143500" cy="3162035"/>
          </a:xfrm>
          <a:prstGeom prst="rect">
            <a:avLst/>
          </a:prstGeom>
          <a:solidFill>
            <a:srgbClr val="0C1A1A"/>
          </a:solidFill>
          <a:ln w="8467">
            <a:solidFill>
              <a:srgbClr val="2634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3417" y="3932899"/>
            <a:ext cx="2144468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2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 SPRINT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13417" y="4385866"/>
            <a:ext cx="1423485" cy="719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902744" y="4741466"/>
            <a:ext cx="1102188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fixed fee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13417" y="5219833"/>
            <a:ext cx="4534747" cy="1058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two-week diagnostic. We map your workflows and scope three use cases.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572250" y="3505332"/>
            <a:ext cx="5143500" cy="3162035"/>
          </a:xfrm>
          <a:prstGeom prst="rect">
            <a:avLst/>
          </a:prstGeom>
          <a:solidFill>
            <a:srgbClr val="152020"/>
          </a:solidFill>
          <a:ln w="8467">
            <a:solidFill>
              <a:srgbClr val="FFCC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2667" y="3932899"/>
            <a:ext cx="2144468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2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ENGAGEMENT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2667" y="4385866"/>
            <a:ext cx="2878548" cy="719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$80–250K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654778" y="4741466"/>
            <a:ext cx="1008922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use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2667" y="5219833"/>
            <a:ext cx="4534747" cy="1058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B6C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Scoped at discovery, contractor-delivered against our blueprint, reviewed at every gate.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2001500" y="3505332"/>
            <a:ext cx="5143500" cy="3162035"/>
          </a:xfrm>
          <a:prstGeom prst="rect">
            <a:avLst/>
          </a:prstGeom>
          <a:solidFill>
            <a:srgbClr val="0C1A1A"/>
          </a:solidFill>
          <a:ln w="8467">
            <a:solidFill>
              <a:srgbClr val="2634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71917" y="3932899"/>
            <a:ext cx="1608369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2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 &amp; 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71917" y="4385866"/>
            <a:ext cx="2118201" cy="719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$8–25K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4392804" y="4741466"/>
            <a:ext cx="729126" cy="26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71917" y="5219833"/>
            <a:ext cx="4534747" cy="1058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recurring — tuning, governance and a steady cadence of new use cases.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43000" y="7200768"/>
            <a:ext cx="16002000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850584"/>
            <a:ext cx="3149435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B6C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economics, year one.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615722" y="7590234"/>
            <a:ext cx="199312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$180K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4615722" y="8199834"/>
            <a:ext cx="1993126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CONTRACT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37255" y="7590234"/>
            <a:ext cx="13287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7037255" y="8199834"/>
            <a:ext cx="1328751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54811" y="7590234"/>
            <a:ext cx="15502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mo.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8854811" y="8199834"/>
            <a:ext cx="1550233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873714" y="7590234"/>
            <a:ext cx="23252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135%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10873714" y="8199834"/>
            <a:ext cx="2325277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REVENUE RETENTION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371255"/>
            <a:ext cx="419100" cy="1905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3253780"/>
            <a:ext cx="184593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75" kern="0" dirty="0">
                <a:solidFill>
                  <a:srgbClr val="FFC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LET’S BUILD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831630"/>
            <a:ext cx="9017510" cy="2198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75" kern="0" dirty="0">
                <a:solidFill>
                  <a:srgbClr val="E6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 the AI working model for the industries that run the real economy.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6410920"/>
            <a:ext cx="4124325" cy="622300"/>
          </a:xfrm>
          <a:prstGeom prst="rect">
            <a:avLst/>
          </a:prstGeom>
          <a:solidFill>
            <a:srgbClr val="FFCC78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6582370"/>
            <a:ext cx="36384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0C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A DISCOVERY SPRINT 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659864" y="3362987"/>
            <a:ext cx="6485136" cy="3561027"/>
          </a:xfrm>
          <a:prstGeom prst="rect">
            <a:avLst/>
          </a:prstGeom>
          <a:ln w="8467">
            <a:solidFill>
              <a:srgbClr val="263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8331" y="3371453"/>
            <a:ext cx="6468203" cy="524933"/>
          </a:xfrm>
          <a:prstGeom prst="rect">
            <a:avLst/>
          </a:prstGeom>
          <a:solidFill>
            <a:srgbClr val="081313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331" y="3887920"/>
            <a:ext cx="6468203" cy="9525"/>
          </a:xfrm>
          <a:prstGeom prst="rect">
            <a:avLst/>
          </a:prstGeom>
          <a:solidFill>
            <a:srgbClr val="263434"/>
          </a:solidFill>
          <a:ln/>
        </p:spPr>
      </p:sp>
      <p:sp>
        <p:nvSpPr>
          <p:cNvPr id="10" name="Text 8"/>
          <p:cNvSpPr/>
          <p:nvPr/>
        </p:nvSpPr>
        <p:spPr>
          <a:xfrm>
            <a:off x="10858831" y="3523853"/>
            <a:ext cx="178663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CONTACT.SONDRI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6526933" y="3582062"/>
            <a:ext cx="95250" cy="95250"/>
          </a:xfrm>
          <a:prstGeom prst="rect">
            <a:avLst/>
          </a:prstGeom>
          <a:ln w="8467">
            <a:solidFill>
              <a:srgbClr val="6C79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88858" y="3582062"/>
            <a:ext cx="95250" cy="95250"/>
          </a:xfrm>
          <a:prstGeom prst="rect">
            <a:avLst/>
          </a:prstGeom>
          <a:ln w="8467">
            <a:solidFill>
              <a:srgbClr val="6C79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850783" y="3582062"/>
            <a:ext cx="95250" cy="95250"/>
          </a:xfrm>
          <a:prstGeom prst="rect">
            <a:avLst/>
          </a:prstGeom>
          <a:solidFill>
            <a:srgbClr val="FFCC78"/>
          </a:solidFill>
          <a:ln w="8467">
            <a:solidFill>
              <a:srgbClr val="FFCC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96931" y="4201187"/>
            <a:ext cx="6191333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65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founder@sondri.ai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896931" y="4641189"/>
            <a:ext cx="6191333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650" dirty="0">
                <a:solidFill>
                  <a:srgbClr val="7D8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sondri.ai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896931" y="5290740"/>
            <a:ext cx="6191333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Investor inquiries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896931" y="5730743"/>
            <a:ext cx="6191333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pilots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896931" y="6170745"/>
            <a:ext cx="6191333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650" dirty="0">
                <a:solidFill>
                  <a:srgbClr val="86A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Founding-team applications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2026-07-03T05:25:47Z</dcterms:created>
  <dcterms:modified xsi:type="dcterms:W3CDTF">2026-07-03T05:25:47Z</dcterms:modified>
</cp:coreProperties>
</file>