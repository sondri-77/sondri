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4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0433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457200"/>
            <a:ext cx="1097280" cy="109728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38160" y="8229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agents, deployed where the work happens.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one. Then one to many.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804672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· Customer · Founding Team Deck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· 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517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6517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3774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pricing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517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508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Founders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3774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contractors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join now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skipped the industries that need it most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chains, construction firms, logistics operators, and trades businesses run on spreadsheets, paper, and tribal knowledge.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can't hire data scientists. They can't afford six-figure consultancies. So they get nothing — while tech-native businesses pull further ahead.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73152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80136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21792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mid-market businesses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non-tech sectors have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strategy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69748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2697480"/>
            <a:ext cx="73152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280720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2788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 of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AI consulting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 today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70332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3703320"/>
            <a:ext cx="73152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38130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mo.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17920" y="3794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time-to-value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traditional AI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$200B+ market hiding in plain 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7772400" cy="777240"/>
          </a:xfrm>
          <a:prstGeom prst="rect">
            <a:avLst/>
          </a:prstGeom>
          <a:solidFill>
            <a:srgbClr val="FFD27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8928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8928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154680" y="185623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services spend by 2028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00200" y="2651760"/>
            <a:ext cx="5943600" cy="777240"/>
          </a:xfrm>
          <a:prstGeom prst="rect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74520" y="27614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6040" y="27614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69080" y="27249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 mid-market sectors (retail,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construction, logistics, trades)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3520440"/>
            <a:ext cx="3657600" cy="777240"/>
          </a:xfrm>
          <a:prstGeom prst="rect">
            <a:avLst/>
          </a:prstGeom>
          <a:solidFill>
            <a:srgbClr val="0F1B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0" y="36301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36301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12080" y="359359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reachable wedge — North America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Europe, contractor-deliverable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Sondri analysis of Gartner, IDC, McKinsey AI adoption data, 2025.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shifts have unlocked this market in the last 18 months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265176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agents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can now run end-to-end workflows — not just answer questions. Off-the-shelf tooling makes deployment weeks, not quarters.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51760" cy="265176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6616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talent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generation of skilled contractors in India, Eastern Europe, and Latin America can deliver at 20-30% of US consulting rates.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651760" cy="265176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0080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readiness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 executives have moved from skepticism to FOMO. Boards are asking the question. Sondri is the answer.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 builds a custom AI working model for each customer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Done-for-you, end-to-end: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diagnose the customer's workflow and pick three high-ROI use cases.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 and build the agents, MCPs, tools, and integrations.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deploy onto their existing stack — no platform lock-in.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their team and stay on for governance and tuning.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777240" cy="777240"/>
          </a:xfrm>
          <a:prstGeom prst="ellipse">
            <a:avLst/>
          </a:prstGeom>
          <a:solidFill>
            <a:srgbClr val="0F1B3C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669280" y="1764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· Workflow audit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38928" y="2468880"/>
            <a:ext cx="0" cy="18288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2651760"/>
            <a:ext cx="777240" cy="777240"/>
          </a:xfrm>
          <a:prstGeom prst="ellipse">
            <a:avLst/>
          </a:prstGeom>
          <a:solidFill>
            <a:srgbClr val="0F1B3C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69280" y="2724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· First agents live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38928" y="3429000"/>
            <a:ext cx="0" cy="18288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3611880"/>
            <a:ext cx="777240" cy="777240"/>
          </a:xfrm>
          <a:prstGeom prst="ellipse">
            <a:avLst/>
          </a:prstGeom>
          <a:solidFill>
            <a:srgbClr val="0F1B3C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3611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3685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0" y="4023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· New use cases monthly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 → n: the delivery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51760" cy="2880360"/>
          </a:xfrm>
          <a:prstGeom prst="rect">
            <a:avLst/>
          </a:prstGeom>
          <a:solidFill>
            <a:srgbClr val="0F1B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 Core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solution architects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blueprint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before scale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651760" cy="2880360"/>
          </a:xfrm>
          <a:prstGeom prst="rect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2900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A2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Network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5603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global contractors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 &amp; integrations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 of US consulting rates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 core team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651760" cy="2880360"/>
          </a:xfrm>
          <a:prstGeom prst="rect">
            <a:avLst/>
          </a:prstGeom>
          <a:solidFill>
            <a:srgbClr val="1A29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5603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· construction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trades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agent service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+ expansion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run a retail chain, a construction firm, or a fleet…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7315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801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drowning in spreadsheets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schedules, quotes, invoices — all in Excel, none of it talking.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7315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801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hire a data team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consultants you can afford give you slide decks, not systems.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7315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competitors are pulling ahead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611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Tech-native rivals are quoting faster, stocking smarter, scheduling tighter.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31089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3108960"/>
            <a:ext cx="7315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want a platform — you want results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3611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agents that fit into how you work today, not another login.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AI model deployed in 8 weeks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7647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764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17647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sit with your team. Map every workflow. Pick three use cases with clear ROI.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47802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4780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24780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designs the agents. Contractors deliver against our blueprint. Reviewed at every gate.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19125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7-8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31912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Train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31912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go live in your environment. Your people learn how to operate, refine, and request more.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9044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9044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39044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 cases land monthly. Sondri stays on for tuning, governance, and the next wave.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Sondri makes money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Three-part pricing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73152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Sprint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Fixed-fee, 2-week diagnostic. Converts to build.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73152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Engagement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926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$80–250K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 case, scoped at discovery. Contractor-delivered.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73152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&amp; 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$8–25K/mo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0233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— tuning, governance, new use cases.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(per customer, Year 1)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2514600"/>
            <a:ext cx="3931920" cy="0"/>
          </a:xfrm>
          <a:prstGeom prst="line">
            <a:avLst/>
          </a:prstGeom>
          <a:noFill/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3931920" cy="0"/>
          </a:xfrm>
          <a:prstGeom prst="line">
            <a:avLst/>
          </a:prstGeom>
          <a:noFill/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54880" y="3429000"/>
            <a:ext cx="3931920" cy="0"/>
          </a:xfrm>
          <a:prstGeom prst="line">
            <a:avLst/>
          </a:prstGeom>
          <a:noFill/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cost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54880" y="3886200"/>
            <a:ext cx="3931920" cy="0"/>
          </a:xfrm>
          <a:prstGeom prst="line">
            <a:avLst/>
          </a:prstGeom>
          <a:noFill/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months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754880" y="4343400"/>
            <a:ext cx="3931920" cy="0"/>
          </a:xfrm>
          <a:prstGeom prst="line">
            <a:avLst/>
          </a:prstGeom>
          <a:noFill/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signal, six months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874520" cy="1280160"/>
          </a:xfrm>
          <a:prstGeom prst="rect">
            <a:avLst/>
          </a:prstGeom>
          <a:solidFill>
            <a:srgbClr val="0F1B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pilots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691640"/>
            <a:ext cx="1874520" cy="1280160"/>
          </a:xfrm>
          <a:prstGeom prst="rect">
            <a:avLst/>
          </a:prstGeom>
          <a:solidFill>
            <a:srgbClr val="0F1B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17373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$420K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14600" y="2514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booked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691640"/>
            <a:ext cx="1874520" cy="1280160"/>
          </a:xfrm>
          <a:prstGeom prst="rect">
            <a:avLst/>
          </a:prstGeom>
          <a:solidFill>
            <a:srgbClr val="0F1B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7373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0" y="2514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 validated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1691640"/>
            <a:ext cx="1874520" cy="1280160"/>
          </a:xfrm>
          <a:prstGeom prst="rect">
            <a:avLst/>
          </a:prstGeom>
          <a:solidFill>
            <a:srgbClr val="0F1B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29400" y="17373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29400" y="2514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expansion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customers (representative)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157276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61188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retail chain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21408" y="3611880"/>
            <a:ext cx="157276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67128" y="361188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contractor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85616" y="3611880"/>
            <a:ext cx="157276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31336" y="361188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operator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49824" y="3611880"/>
            <a:ext cx="157276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95544" y="361188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service group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14032" y="3611880"/>
            <a:ext cx="157276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59752" y="361188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trades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Sondri wins this segment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3108960"/>
            <a:ext cx="6400800" cy="0"/>
          </a:xfrm>
          <a:prstGeom prst="line">
            <a:avLst/>
          </a:prstGeom>
          <a:noFill/>
          <a:ln w="12700">
            <a:solidFill>
              <a:srgbClr val="4B5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0" y="1737360"/>
            <a:ext cx="0" cy="2743200"/>
          </a:xfrm>
          <a:prstGeom prst="line">
            <a:avLst/>
          </a:prstGeom>
          <a:noFill/>
          <a:ln w="12700">
            <a:solidFill>
              <a:srgbClr val="4B5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Done-for-you 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Self-serve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2103120"/>
            <a:ext cx="201168" cy="201168"/>
          </a:xfrm>
          <a:prstGeom prst="ellipse">
            <a:avLst/>
          </a:prstGeom>
          <a:solidFill>
            <a:srgbClr val="1A2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4028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Big-4 consulting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286000"/>
            <a:ext cx="201168" cy="201168"/>
          </a:xfrm>
          <a:prstGeom prst="ellipse">
            <a:avLst/>
          </a:prstGeom>
          <a:solidFill>
            <a:srgbClr val="1A2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0372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boutique firms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3749040"/>
            <a:ext cx="201168" cy="201168"/>
          </a:xfrm>
          <a:prstGeom prst="ellipse">
            <a:avLst/>
          </a:prstGeom>
          <a:solidFill>
            <a:srgbClr val="1A2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31720" y="3730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platforms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3931920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86600" y="3913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operators who've shipped AI into the real world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1856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CEO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423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AI working-model rollouts at SAP. 12+ years bridging enterprise and engineering.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874520"/>
            <a:ext cx="868680" cy="868680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06440" y="1856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CTO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21671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[Open seat]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2423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 / MCP experience. Ships fast, hires faster. We're hiring.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45920" y="32735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Delivery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35844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[Open seat]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45920" y="3840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global contractor network. Scales the 1 → n motion. We're hiring.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1089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3291840"/>
            <a:ext cx="868680" cy="868680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3291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806440" y="32735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GTM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06440" y="35844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[Open seat]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3840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into non-tech mid-market. Translates AI into business outcomes. We're hiring.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JOIN SONDRI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ten people we hire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977640" cy="114300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892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equity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1% of cap table. We're hiring the people who shape the company, not fill seats.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783080"/>
            <a:ext cx="3977640" cy="114300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892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customers from day one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phantom roadmaps. You'll ship into live revenue-generating accounts in week 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977640" cy="114300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that's wide open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 sectors are an underexploited frontier. The first credible brand here wins big.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3108960"/>
            <a:ext cx="3977640" cy="114300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Leverage, not headcount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core team with a global contractor network. You'll punch ten times your weight.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next 18 months look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51760" cy="365760"/>
          </a:xfrm>
          <a:prstGeom prst="rect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Q4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 ARR · 15 customers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retail + construction. Prove repeatable build motion.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7830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2651760" cy="365760"/>
          </a:xfrm>
          <a:prstGeom prst="rect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→ Q3 2027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ARR · 50 customers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verticals (logistics, trades). 30+ contractors active.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783080"/>
            <a:ext cx="2651760" cy="365760"/>
          </a:xfrm>
          <a:prstGeom prst="rect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 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 ARR · Series 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expansion. Productise the core. Open agent marketplace.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 seed round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us to $5M ARR and a Series 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874520" cy="237744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senior hires: CTO, delivery, GTM, design, ops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2011680"/>
            <a:ext cx="1874520" cy="237744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2148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514600" y="2834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32461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network to 30+ vetted builders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011680"/>
            <a:ext cx="1874520" cy="237744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32461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gen into retail + construction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2011680"/>
            <a:ext cx="1874520" cy="237744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9400" y="2148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629400" y="2834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32461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to 24 months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3657600"/>
            <a:ext cx="1097280" cy="109728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38160" y="40233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AI working model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industries that run the real economy.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45720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[Founder name]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founder@sondri.ai · sondri.ai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inquiries · Customer pilots · Founding-team applications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1312</Words>
  <Application>Microsoft Office PowerPoint</Application>
  <PresentationFormat>On-screen Show (16:9)</PresentationFormat>
  <Paragraphs>293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Sondri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Sondri — Pitch Deck</dc:title>
  <dc:subject>PptxGenJS Presentation</dc:subject>
  <dc:creator>Sondri</dc:creator>
  <cp:lastModifiedBy>Smokovich, Benjamin</cp:lastModifiedBy>
  <cp:revision>1</cp:revision>
  <dcterms:created xsi:type="dcterms:W3CDTF">2026-06-27T13:32:39Z</dcterms:created>
  <dcterms:modified xsi:type="dcterms:W3CDTF">2026-07-02T18:26:32Z</dcterms:modified>
</cp:coreProperties>
</file>